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months my official job title has been Senior Copy-Paste Engineer. My agent edits code, Metro goes red, and the most advanced AI on the planet waits for me to drag a mouse across a terminal. Then it asks for more of the stack trace. The agent's feedback loop runs through me, and I'm the slowest part of it. (~40s)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Panelink is my experimental terminal multiplexer. Metro runs in one pane and my agent in another, and the agent can query the panes around it. It lists panes to find Metro, reads the error itself, waits for the rebuild instead of guessing with sleep, and can even press 'r' to reload. There's no plugin and no log SDK. It's the same terminal I'm looking at. (~50s)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break an import. Metro goes red, and I don't touch it. I tell the agent 'check Metro and fix it'. It finds the pane, reads the exact error, fixes the file, waits for the rebuild and checks the logs again. Green. My only job was reviewing the diff. (~60s)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agent is fast. Stop making it wait for your mouse. Thanks! (~15s)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548640" y="365760"/>
            <a:ext cx="10972800" cy="1097280"/>
          </a:xfrm>
          <a:prstGeom prst="rect">
            <a:avLst/>
          </a:prstGeom>
          <a:noFill/>
        </p:spPr>
        <p:txBody>
          <a:bodyPr wrap="square">
            <a:spAutoFit/>
          </a:bodyPr>
          <a:lstStyle/>
          <a:p>
            <a:r>
              <a:rPr sz="4400" b="1">
                <a:solidFill>
                  <a:srgbClr val="F5F5F5"/>
                </a:solidFill>
              </a:rPr>
              <a:t>Stop Being Your Agent's Clipboard</a:t>
            </a:r>
          </a:p>
        </p:txBody>
      </p:sp>
      <p:sp>
        <p:nvSpPr>
          <p:cNvPr id="3" name="TextBox 2"/>
          <p:cNvSpPr txBox="1"/>
          <p:nvPr/>
        </p:nvSpPr>
        <p:spPr>
          <a:xfrm>
            <a:off x="548640" y="1280160"/>
            <a:ext cx="10972800" cy="548640"/>
          </a:xfrm>
          <a:prstGeom prst="rect">
            <a:avLst/>
          </a:prstGeom>
          <a:noFill/>
        </p:spPr>
        <p:txBody>
          <a:bodyPr wrap="square">
            <a:spAutoFit/>
          </a:bodyPr>
          <a:lstStyle/>
          <a:p>
            <a:r>
              <a:rPr sz="2000" b="0">
                <a:solidFill>
                  <a:srgbClr val="4FC3F7"/>
                </a:solidFill>
              </a:rPr>
              <a:t>Senior Copy-Paste Engineer, reporting for duty</a:t>
            </a:r>
          </a:p>
        </p:txBody>
      </p:sp>
      <p:sp>
        <p:nvSpPr>
          <p:cNvPr id="4" name="TextBox 3"/>
          <p:cNvSpPr txBox="1"/>
          <p:nvPr/>
        </p:nvSpPr>
        <p:spPr>
          <a:xfrm>
            <a:off x="548640" y="2103120"/>
            <a:ext cx="5303520" cy="4114800"/>
          </a:xfrm>
          <a:prstGeom prst="rect">
            <a:avLst/>
          </a:prstGeom>
          <a:noFill/>
        </p:spPr>
        <p:txBody>
          <a:bodyPr wrap="square">
            <a:spAutoFit/>
          </a:bodyPr>
          <a:lstStyle/>
          <a:p>
            <a:r>
              <a:rPr sz="2200" b="0">
                <a:solidFill>
                  <a:srgbClr val="F5F5F5"/>
                </a:solidFill>
              </a:rPr>
              <a:t>1. Agent edits code</a:t>
            </a:r>
          </a:p>
          <a:p>
            <a:r>
              <a:rPr sz="2200" b="0">
                <a:solidFill>
                  <a:srgbClr val="F5F5F5"/>
                </a:solidFill>
              </a:rPr>
              <a:t>2. Metro reloads</a:t>
            </a:r>
          </a:p>
          <a:p>
            <a:r>
              <a:rPr sz="2200" b="0">
                <a:solidFill>
                  <a:srgbClr val="F5F5F5"/>
                </a:solidFill>
              </a:rPr>
              <a:t>3. App goes red</a:t>
            </a:r>
          </a:p>
          <a:p>
            <a:r>
              <a:rPr sz="2200" b="0">
                <a:solidFill>
                  <a:srgbClr val="F5F5F5"/>
                </a:solidFill>
              </a:rPr>
              <a:t>4. YOU copy the logs</a:t>
            </a:r>
          </a:p>
          <a:p>
            <a:r>
              <a:rPr sz="2200" b="0">
                <a:solidFill>
                  <a:srgbClr val="F5F5F5"/>
                </a:solidFill>
              </a:rPr>
              <a:t>5. YOU paste them</a:t>
            </a:r>
          </a:p>
          <a:p>
            <a:r>
              <a:rPr sz="2200" b="0">
                <a:solidFill>
                  <a:srgbClr val="F5F5F5"/>
                </a:solidFill>
              </a:rPr>
              <a:t>6. "Can you share the full stack trace?"</a:t>
            </a:r>
          </a:p>
          <a:p>
            <a:r>
              <a:rPr sz="2200" b="0">
                <a:solidFill>
                  <a:srgbClr val="F5F5F5"/>
                </a:solidFill>
              </a:rPr>
              <a:t>     ↺ back to 4</a:t>
            </a:r>
          </a:p>
        </p:txBody>
      </p:sp>
      <p:sp>
        <p:nvSpPr>
          <p:cNvPr id="5" name="Rounded Rectangle 4"/>
          <p:cNvSpPr/>
          <p:nvPr/>
        </p:nvSpPr>
        <p:spPr>
          <a:xfrm>
            <a:off x="6217920" y="2103120"/>
            <a:ext cx="5486400" cy="3840480"/>
          </a:xfrm>
          <a:prstGeom prst="roundRect">
            <a:avLst/>
          </a:prstGeom>
          <a:solidFill>
            <a:srgbClr val="2C2C34"/>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9E9E9E"/>
                </a:solidFill>
              </a:rPr>
              <a:t>[VIDEO] 10–15 s: manual copy-paste loop
(scroll Metro → select → Cmd-C → switch → Cmd-V → agent asks for more)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r>
              <a:rPr sz="4000" b="1">
                <a:solidFill>
                  <a:srgbClr val="F5F5F5"/>
                </a:solidFill>
              </a:rPr>
              <a:t>Give your agent eyes and hands</a:t>
            </a:r>
          </a:p>
        </p:txBody>
      </p:sp>
      <p:sp>
        <p:nvSpPr>
          <p:cNvPr id="3" name="TextBox 2"/>
          <p:cNvSpPr txBox="1"/>
          <p:nvPr/>
        </p:nvSpPr>
        <p:spPr>
          <a:xfrm>
            <a:off x="548640" y="1188720"/>
            <a:ext cx="10972800" cy="548640"/>
          </a:xfrm>
          <a:prstGeom prst="rect">
            <a:avLst/>
          </a:prstGeom>
          <a:noFill/>
        </p:spPr>
        <p:txBody>
          <a:bodyPr wrap="square">
            <a:spAutoFit/>
          </a:bodyPr>
          <a:lstStyle/>
          <a:p>
            <a:r>
              <a:rPr sz="2000" b="0">
                <a:solidFill>
                  <a:srgbClr val="4FC3F7"/>
                </a:solidFill>
              </a:rPr>
              <a:t>Panelink: a terminal multiplexer whose panes agents can query</a:t>
            </a:r>
          </a:p>
        </p:txBody>
      </p:sp>
      <p:sp>
        <p:nvSpPr>
          <p:cNvPr id="4" name="TextBox 3"/>
          <p:cNvSpPr txBox="1"/>
          <p:nvPr/>
        </p:nvSpPr>
        <p:spPr>
          <a:xfrm>
            <a:off x="548640" y="2011680"/>
            <a:ext cx="6035040" cy="4114800"/>
          </a:xfrm>
          <a:prstGeom prst="rect">
            <a:avLst/>
          </a:prstGeom>
          <a:noFill/>
        </p:spPr>
        <p:txBody>
          <a:bodyPr wrap="square">
            <a:spAutoFit/>
          </a:bodyPr>
          <a:lstStyle/>
          <a:p>
            <a:r>
              <a:rPr sz="1800" b="0">
                <a:solidFill>
                  <a:srgbClr val="F5F5F5"/>
                </a:solidFill>
                <a:latin typeface="Menlo"/>
              </a:rPr>
              <a:t>SEE</a:t>
            </a:r>
          </a:p>
          <a:p>
            <a:r>
              <a:rPr sz="1800" b="0">
                <a:solidFill>
                  <a:srgbClr val="F5F5F5"/>
                </a:solidFill>
                <a:latin typeface="Menlo"/>
              </a:rPr>
              <a:t>  panelink pane list</a:t>
            </a:r>
          </a:p>
          <a:p>
            <a:r>
              <a:rPr sz="1800" b="0">
                <a:solidFill>
                  <a:srgbClr val="F5F5F5"/>
                </a:solidFill>
                <a:latin typeface="Menlo"/>
              </a:rPr>
              <a:t>READ</a:t>
            </a:r>
          </a:p>
          <a:p>
            <a:r>
              <a:rPr sz="1800" b="0">
                <a:solidFill>
                  <a:srgbClr val="F5F5F5"/>
                </a:solidFill>
                <a:latin typeface="Menlo"/>
              </a:rPr>
              <a:t>  panelink pane read 2 --bottom --lines 40</a:t>
            </a:r>
          </a:p>
          <a:p>
            <a:r>
              <a:rPr sz="1800" b="0">
                <a:solidFill>
                  <a:srgbClr val="F5F5F5"/>
                </a:solidFill>
                <a:latin typeface="Menlo"/>
              </a:rPr>
              <a:t>WAIT</a:t>
            </a:r>
          </a:p>
          <a:p>
            <a:r>
              <a:rPr sz="1800" b="0">
                <a:solidFill>
                  <a:srgbClr val="F5F5F5"/>
                </a:solidFill>
                <a:latin typeface="Menlo"/>
              </a:rPr>
              <a:t>  panelink wait 2 --text 'Bundled'</a:t>
            </a:r>
          </a:p>
          <a:p>
            <a:r>
              <a:rPr sz="1800" b="0">
                <a:solidFill>
                  <a:srgbClr val="F5F5F5"/>
                </a:solidFill>
                <a:latin typeface="Menlo"/>
              </a:rPr>
              <a:t>CONTROL</a:t>
            </a:r>
          </a:p>
          <a:p>
            <a:r>
              <a:rPr sz="1800" b="0">
                <a:solidFill>
                  <a:srgbClr val="F5F5F5"/>
                </a:solidFill>
                <a:latin typeface="Menlo"/>
              </a:rPr>
              <a:t>  panelink pane send 2 r --claim</a:t>
            </a:r>
          </a:p>
        </p:txBody>
      </p:sp>
      <p:sp>
        <p:nvSpPr>
          <p:cNvPr id="5" name="Rounded Rectangle 4"/>
          <p:cNvSpPr/>
          <p:nvPr/>
        </p:nvSpPr>
        <p:spPr>
          <a:xfrm>
            <a:off x="6858000" y="2011680"/>
            <a:ext cx="4846320" cy="3931920"/>
          </a:xfrm>
          <a:prstGeom prst="roundRect">
            <a:avLst/>
          </a:prstGeom>
          <a:solidFill>
            <a:srgbClr val="2C2C34"/>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9E9E9E"/>
                </a:solidFill>
              </a:rPr>
              <a:t>[SCREENSHOT] Panelink: agent pane + Metro pane side by side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r>
              <a:rPr sz="4000" b="1">
                <a:solidFill>
                  <a:srgbClr val="F5F5F5"/>
                </a:solidFill>
              </a:rPr>
              <a:t>Demo: red to green, hands off</a:t>
            </a:r>
          </a:p>
        </p:txBody>
      </p:sp>
      <p:sp>
        <p:nvSpPr>
          <p:cNvPr id="3" name="TextBox 2"/>
          <p:cNvSpPr txBox="1"/>
          <p:nvPr/>
        </p:nvSpPr>
        <p:spPr>
          <a:xfrm>
            <a:off x="548640" y="1188720"/>
            <a:ext cx="10972800" cy="548640"/>
          </a:xfrm>
          <a:prstGeom prst="rect">
            <a:avLst/>
          </a:prstGeom>
          <a:noFill/>
        </p:spPr>
        <p:txBody>
          <a:bodyPr wrap="square">
            <a:spAutoFit/>
          </a:bodyPr>
          <a:lstStyle/>
          <a:p>
            <a:r>
              <a:rPr sz="2000" b="0">
                <a:solidFill>
                  <a:srgbClr val="4FC3F7"/>
                </a:solidFill>
              </a:rPr>
              <a:t>The whole prompt: "Something broke. Check Metro and fix it."</a:t>
            </a:r>
          </a:p>
        </p:txBody>
      </p:sp>
      <p:sp>
        <p:nvSpPr>
          <p:cNvPr id="4" name="Rounded Rectangle 3"/>
          <p:cNvSpPr/>
          <p:nvPr/>
        </p:nvSpPr>
        <p:spPr>
          <a:xfrm>
            <a:off x="548640" y="1920240"/>
            <a:ext cx="11064240" cy="4389120"/>
          </a:xfrm>
          <a:prstGeom prst="roundRect">
            <a:avLst/>
          </a:prstGeom>
          <a:solidFill>
            <a:srgbClr val="2C2C34"/>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9E9E9E"/>
                </a:solidFill>
              </a:rPr>
              <a:t>[VIDEO] 45–60 s: bug introduced → Metro red → agent reads pane → fixes file → waits for rebuild → reads again → green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548640" y="1463040"/>
            <a:ext cx="10972800" cy="1097280"/>
          </a:xfrm>
          <a:prstGeom prst="rect">
            <a:avLst/>
          </a:prstGeom>
          <a:noFill/>
        </p:spPr>
        <p:txBody>
          <a:bodyPr wrap="square">
            <a:spAutoFit/>
          </a:bodyPr>
          <a:lstStyle/>
          <a:p>
            <a:r>
              <a:rPr sz="4800" b="1">
                <a:solidFill>
                  <a:srgbClr val="F5F5F5"/>
                </a:solidFill>
              </a:rPr>
              <a:t>Stop being your agent's clipboard.</a:t>
            </a:r>
          </a:p>
        </p:txBody>
      </p:sp>
      <p:sp>
        <p:nvSpPr>
          <p:cNvPr id="3" name="TextBox 2"/>
          <p:cNvSpPr txBox="1"/>
          <p:nvPr/>
        </p:nvSpPr>
        <p:spPr>
          <a:xfrm>
            <a:off x="548640" y="2743200"/>
            <a:ext cx="10972800" cy="914400"/>
          </a:xfrm>
          <a:prstGeom prst="rect">
            <a:avLst/>
          </a:prstGeom>
          <a:noFill/>
        </p:spPr>
        <p:txBody>
          <a:bodyPr wrap="square">
            <a:spAutoFit/>
          </a:bodyPr>
          <a:lstStyle/>
          <a:p>
            <a:r>
              <a:rPr sz="2400" b="0">
                <a:solidFill>
                  <a:srgbClr val="4FC3F7"/>
                </a:solidFill>
              </a:rPr>
              <a:t>Run dev servers in a multiplexer  →  let the agent read &amp; wait  →  you review</a:t>
            </a:r>
          </a:p>
        </p:txBody>
      </p:sp>
      <p:sp>
        <p:nvSpPr>
          <p:cNvPr id="4" name="TextBox 3"/>
          <p:cNvSpPr txBox="1"/>
          <p:nvPr/>
        </p:nvSpPr>
        <p:spPr>
          <a:xfrm>
            <a:off x="548640" y="5669280"/>
            <a:ext cx="10972800" cy="731520"/>
          </a:xfrm>
          <a:prstGeom prst="rect">
            <a:avLst/>
          </a:prstGeom>
          <a:noFill/>
        </p:spPr>
        <p:txBody>
          <a:bodyPr wrap="square">
            <a:spAutoFit/>
          </a:bodyPr>
          <a:lstStyle/>
          <a:p>
            <a:r>
              <a:rPr sz="1200" b="0">
                <a:solidFill>
                  <a:srgbClr val="9E9E9E"/>
                </a:solidFill>
              </a:rPr>
              <a:t>Experimental · Apple Silicon Mac only · logs can contain secrets · newer RN sends JS console logs to DevTools, not Metro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